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58" r:id="rId1"/>
  </p:sldMasterIdLst>
  <p:notesMasterIdLst>
    <p:notesMasterId r:id="rId32"/>
  </p:notesMasterIdLst>
  <p:sldIdLst>
    <p:sldId id="256" r:id="rId2"/>
    <p:sldId id="257" r:id="rId3"/>
    <p:sldId id="285" r:id="rId4"/>
    <p:sldId id="286" r:id="rId5"/>
    <p:sldId id="258" r:id="rId6"/>
    <p:sldId id="271" r:id="rId7"/>
    <p:sldId id="259" r:id="rId8"/>
    <p:sldId id="260" r:id="rId9"/>
    <p:sldId id="272" r:id="rId10"/>
    <p:sldId id="261" r:id="rId11"/>
    <p:sldId id="273" r:id="rId12"/>
    <p:sldId id="274" r:id="rId13"/>
    <p:sldId id="262" r:id="rId14"/>
    <p:sldId id="275" r:id="rId15"/>
    <p:sldId id="276" r:id="rId16"/>
    <p:sldId id="263" r:id="rId17"/>
    <p:sldId id="277" r:id="rId18"/>
    <p:sldId id="278" r:id="rId19"/>
    <p:sldId id="264" r:id="rId20"/>
    <p:sldId id="279" r:id="rId21"/>
    <p:sldId id="280" r:id="rId22"/>
    <p:sldId id="281" r:id="rId23"/>
    <p:sldId id="265" r:id="rId24"/>
    <p:sldId id="282" r:id="rId25"/>
    <p:sldId id="283" r:id="rId26"/>
    <p:sldId id="266" r:id="rId27"/>
    <p:sldId id="284" r:id="rId28"/>
    <p:sldId id="267" r:id="rId29"/>
    <p:sldId id="268" r:id="rId30"/>
    <p:sldId id="269" r:id="rId3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4" d="100"/>
          <a:sy n="64" d="100"/>
        </p:scale>
        <p:origin x="1566" y="7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theme" Target="theme/theme1.xml"/><Relationship Id="rId8" Type="http://schemas.openxmlformats.org/officeDocument/2006/relationships/slide" Target="slides/slide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C0D96C4-B7B7-41DF-922C-A8A1D54DFE1F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A82B5D2-103C-47AD-B695-936006A13CB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7137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A82B5D2-103C-47AD-B695-936006A13CB8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358590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92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346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53483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94260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604884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4592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70671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51453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186658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05387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3741913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008686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2011097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32035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244839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2861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32826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9" r:id="rId1"/>
    <p:sldLayoutId id="2147483760" r:id="rId2"/>
    <p:sldLayoutId id="2147483761" r:id="rId3"/>
    <p:sldLayoutId id="2147483762" r:id="rId4"/>
    <p:sldLayoutId id="2147483763" r:id="rId5"/>
    <p:sldLayoutId id="2147483764" r:id="rId6"/>
    <p:sldLayoutId id="2147483765" r:id="rId7"/>
    <p:sldLayoutId id="2147483766" r:id="rId8"/>
    <p:sldLayoutId id="2147483767" r:id="rId9"/>
    <p:sldLayoutId id="2147483768" r:id="rId10"/>
    <p:sldLayoutId id="2147483769" r:id="rId11"/>
    <p:sldLayoutId id="2147483770" r:id="rId12"/>
    <p:sldLayoutId id="2147483771" r:id="rId13"/>
    <p:sldLayoutId id="2147483772" r:id="rId14"/>
    <p:sldLayoutId id="2147483773" r:id="rId15"/>
    <p:sldLayoutId id="214748377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prince.agyare@gmail.com" TargetMode="Externa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09392"/>
            <a:ext cx="8229600" cy="1320800"/>
          </a:xfrm>
        </p:spPr>
        <p:txBody>
          <a:bodyPr>
            <a:noAutofit/>
          </a:bodyPr>
          <a:lstStyle/>
          <a:p>
            <a:r>
              <a:rPr lang="en-US" sz="2700" b="1" dirty="0">
                <a:solidFill>
                  <a:srgbClr val="7030A0"/>
                </a:solidFill>
              </a:rPr>
              <a:t>PRODUCT PULSE ECOMMERCE ANALYTICS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3623873"/>
            <a:ext cx="8229600" cy="1143000"/>
          </a:xfrm>
        </p:spPr>
        <p:txBody>
          <a:bodyPr>
            <a:normAutofit fontScale="70000" lnSpcReduction="20000"/>
          </a:bodyPr>
          <a:lstStyle/>
          <a:p>
            <a:r>
              <a:rPr lang="en-US" dirty="0"/>
              <a:t>By:</a:t>
            </a:r>
          </a:p>
          <a:p>
            <a:r>
              <a:rPr lang="en-US" b="1" dirty="0"/>
              <a:t>PRINCE OWUSU AGYARE (DATA / BI ANALYST)</a:t>
            </a:r>
            <a:endParaRPr lang="en-US" dirty="0"/>
          </a:p>
          <a:p>
            <a:r>
              <a:rPr lang="en-US" b="1" dirty="0"/>
              <a:t>+97433421383 | </a:t>
            </a:r>
            <a:r>
              <a:rPr lang="en-US" b="1" u="sng" dirty="0">
                <a:solidFill>
                  <a:srgbClr val="00206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prince.agyare@gmail.com</a:t>
            </a:r>
            <a:endParaRPr lang="en-US" b="1" u="sng" dirty="0">
              <a:solidFill>
                <a:srgbClr val="002060"/>
              </a:solidFill>
            </a:endParaRPr>
          </a:p>
          <a:p>
            <a:r>
              <a:rPr lang="en-US" dirty="0"/>
              <a:t>MAY 2026</a:t>
            </a:r>
          </a:p>
          <a:p>
            <a:pPr marL="0" indent="0">
              <a:buNone/>
            </a:pPr>
            <a:endParaRPr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C464FBA-5EF3-DF67-F49F-BF6705D40F3B}"/>
              </a:ext>
            </a:extLst>
          </p:cNvPr>
          <p:cNvSpPr txBox="1">
            <a:spLocks/>
          </p:cNvSpPr>
          <p:nvPr/>
        </p:nvSpPr>
        <p:spPr>
          <a:xfrm>
            <a:off x="457200" y="1299355"/>
            <a:ext cx="8229600" cy="12616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3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ct val="20000"/>
              </a:spcBef>
              <a:buFont typeface="Arial"/>
              <a:buChar char="–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ct val="20000"/>
              </a:spcBef>
              <a:buFont typeface="Arial"/>
              <a:buChar char="»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ct val="20000"/>
              </a:spcBef>
              <a:buFont typeface="Arial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/>
              <a:buNone/>
            </a:pPr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Cross-Platform Performance Analysis</a:t>
            </a:r>
          </a:p>
          <a:p>
            <a:pPr marL="0" indent="0" algn="ctr">
              <a:buFont typeface="Arial"/>
              <a:buNone/>
            </a:pPr>
            <a:r>
              <a:rPr lang="en-US" sz="2400" b="1" dirty="0">
                <a:solidFill>
                  <a:srgbClr val="0070C0"/>
                </a:solidFill>
              </a:rPr>
              <a:t>(Pricing &amp; Discount)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Executive Summary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AliExpress is the cheapest platform</a:t>
            </a:r>
          </a:p>
          <a:p>
            <a:r>
              <a:t>Jumia operates in high-value market</a:t>
            </a:r>
          </a:p>
          <a:p>
            <a:r>
              <a:t>Discounts do not impact ratings</a:t>
            </a:r>
          </a:p>
          <a:p>
            <a:r>
              <a:t>Customer satisfaction similar across platforms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986F38E-D439-650D-093B-7299538EE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994348"/>
          </a:xfrm>
        </p:spPr>
        <p:txBody>
          <a:bodyPr/>
          <a:lstStyle/>
          <a:p>
            <a:r>
              <a:rPr lang="en-US" dirty="0"/>
              <a:t>Summary Key visuals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FAAFAB-506B-9FB5-29DF-1BF2BF1E3B9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74886" y="1467542"/>
            <a:ext cx="7280874" cy="4138779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247031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4410BB-3327-37C5-E39C-52D182ADD9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Summary key visuals cont’d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2D8F95B-86E7-1536-B4F1-DB1F263494B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34846" y="1358005"/>
            <a:ext cx="7182262" cy="40384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76700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Pricing </a:t>
            </a:r>
            <a:r>
              <a:rPr lang="en-US" dirty="0">
                <a:highlight>
                  <a:srgbClr val="FFFF00"/>
                </a:highlight>
              </a:rPr>
              <a:t>Analysis</a:t>
            </a:r>
            <a:endParaRPr dirty="0">
              <a:highlight>
                <a:srgbClr val="FFFF00"/>
              </a:highlight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AliExpress avg: $241 (cheapest)</a:t>
            </a:r>
            <a:r>
              <a:rPr lang="en-US" dirty="0"/>
              <a:t> - 5× cheaper than Amazon</a:t>
            </a:r>
          </a:p>
          <a:p>
            <a:r>
              <a:rPr lang="en-US" dirty="0"/>
              <a:t>Cheapest for 82% of brands</a:t>
            </a:r>
          </a:p>
          <a:p>
            <a:pPr marL="0" indent="0">
              <a:buNone/>
            </a:pPr>
            <a:endParaRPr lang="en-US" dirty="0"/>
          </a:p>
          <a:p>
            <a:r>
              <a:rPr lang="en-US" dirty="0"/>
              <a:t>Jumia avg: $24,000 (highest)</a:t>
            </a:r>
          </a:p>
          <a:p>
            <a:endParaRPr lang="en-US" dirty="0"/>
          </a:p>
          <a:p>
            <a:r>
              <a:rPr lang="en-US" dirty="0"/>
              <a:t>Amazon &amp; eBay closely priced</a:t>
            </a:r>
          </a:p>
          <a:p>
            <a:endParaRPr lang="en-US" dirty="0"/>
          </a:p>
          <a:p>
            <a:r>
              <a:rPr lang="en-US" dirty="0"/>
              <a:t>Noon positioned mid-high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936E66-D72B-9387-4C20-C3879578AC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619593"/>
          </a:xfrm>
        </p:spPr>
        <p:txBody>
          <a:bodyPr>
            <a:normAutofit fontScale="90000"/>
          </a:bodyPr>
          <a:lstStyle/>
          <a:p>
            <a:r>
              <a:rPr lang="en-US" dirty="0"/>
              <a:t>Visuals from Pricing Analysis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1F5672C-5C62-C353-C772-A68E92B71E4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195343" y="1229193"/>
            <a:ext cx="7226513" cy="47069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632150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Price Extremes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expensive: Jumia ($47K–$49K)</a:t>
            </a:r>
          </a:p>
          <a:p>
            <a:r>
              <a:rPr dirty="0"/>
              <a:t>Cheapest: eBay &amp; AliExpress ($1–$3)</a:t>
            </a:r>
          </a:p>
          <a:p>
            <a:r>
              <a:rPr dirty="0"/>
              <a:t>Large price variation across platforms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Discount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eBay highest avg discount (20.7%)</a:t>
            </a:r>
          </a:p>
          <a:p>
            <a:r>
              <a:rPr dirty="0"/>
              <a:t>Only 28.4% products discounted</a:t>
            </a:r>
          </a:p>
          <a:p>
            <a:r>
              <a:rPr dirty="0"/>
              <a:t>Discounts do not affect ratings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D9BF11-CE5B-AB3A-D43A-7149DAFDF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1" y="44992"/>
            <a:ext cx="6347713" cy="649574"/>
          </a:xfrm>
        </p:spPr>
        <p:txBody>
          <a:bodyPr/>
          <a:lstStyle/>
          <a:p>
            <a:r>
              <a:rPr lang="en-US" dirty="0"/>
              <a:t>Discount charts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6D70C1C-82B8-BC10-57B5-0ABB751B083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1" y="4152275"/>
            <a:ext cx="3086887" cy="1801832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EA6AB6D-9134-5C5C-B575-45BC71EA76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6975" y="4269210"/>
            <a:ext cx="4155025" cy="24179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2D08AB9B-2C26-5FA2-9804-29502484169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6975" y="903893"/>
            <a:ext cx="6793294" cy="2946127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05347944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vert="horz" lIns="91440" tIns="45720" rIns="91440" bIns="45720" rtlCol="0" anchor="ctr">
            <a:normAutofit/>
          </a:bodyPr>
          <a:lstStyle/>
          <a:p>
            <a:r>
              <a:rPr dirty="0">
                <a:highlight>
                  <a:srgbClr val="FFFF00"/>
                </a:highlight>
              </a:rPr>
              <a:t>Brand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Adidas appears on 3 platforms</a:t>
            </a:r>
          </a:p>
          <a:p>
            <a:r>
              <a:t>Nike on 2 platforms</a:t>
            </a:r>
          </a:p>
          <a:p>
            <a:r>
              <a:t>Some brand names truncated (data issue)</a:t>
            </a:r>
          </a:p>
          <a:p>
            <a:r>
              <a:t>AliExpress cheapest for most brands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BCA8D1-3B0C-9CE6-F302-C3B4AE59B43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56237"/>
            <a:ext cx="6347713" cy="660400"/>
          </a:xfrm>
        </p:spPr>
        <p:txBody>
          <a:bodyPr/>
          <a:lstStyle/>
          <a:p>
            <a:r>
              <a:rPr lang="en-US" dirty="0"/>
              <a:t>Brand charts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445C83F-14DF-37F4-A03E-F7EF803D044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14054" y="1068812"/>
            <a:ext cx="6347713" cy="47203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795250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DB2F3A-618D-8855-0E2F-CC1379D17D4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146414"/>
            <a:ext cx="6347713" cy="664564"/>
          </a:xfrm>
        </p:spPr>
        <p:txBody>
          <a:bodyPr/>
          <a:lstStyle/>
          <a:p>
            <a:r>
              <a:rPr lang="en-US" dirty="0"/>
              <a:t>Brand price list comparison</a:t>
            </a:r>
          </a:p>
        </p:txBody>
      </p:sp>
      <p:pic>
        <p:nvPicPr>
          <p:cNvPr id="7" name="Content Placeholder 6">
            <a:extLst>
              <a:ext uri="{FF2B5EF4-FFF2-40B4-BE49-F238E27FC236}">
                <a16:creationId xmlns:a16="http://schemas.microsoft.com/office/drawing/2014/main" id="{5C9C0692-47B5-664F-DE49-D82241E142A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033713" y="810978"/>
            <a:ext cx="3844610" cy="53644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FC0DD219-DA6D-F1AA-7B62-D56DA3FBF8A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810978"/>
            <a:ext cx="4007515" cy="5364474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19974074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Category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Most products: Beauty</a:t>
            </a:r>
          </a:p>
          <a:p>
            <a:r>
              <a:rPr dirty="0"/>
              <a:t>Highest price: Automotive ($10K avg)</a:t>
            </a:r>
          </a:p>
          <a:p>
            <a:r>
              <a:rPr dirty="0"/>
              <a:t>Cheapest: Books &amp; Garden</a:t>
            </a:r>
          </a:p>
          <a:p>
            <a:r>
              <a:rPr dirty="0"/>
              <a:t>Fashion drives engagement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80C976-FDCB-E6A8-D0B2-C8AA4E5D8C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8" y="284813"/>
            <a:ext cx="6347713" cy="649574"/>
          </a:xfrm>
        </p:spPr>
        <p:txBody>
          <a:bodyPr/>
          <a:lstStyle/>
          <a:p>
            <a:r>
              <a:rPr lang="en-US" dirty="0"/>
              <a:t>Category chart</a:t>
            </a:r>
          </a:p>
        </p:txBody>
      </p:sp>
      <p:pic>
        <p:nvPicPr>
          <p:cNvPr id="17" name="Content Placeholder 16">
            <a:extLst>
              <a:ext uri="{FF2B5EF4-FFF2-40B4-BE49-F238E27FC236}">
                <a16:creationId xmlns:a16="http://schemas.microsoft.com/office/drawing/2014/main" id="{9739D7C4-FD4B-4F03-B883-5750EEC5AD9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14728" y="1469035"/>
            <a:ext cx="6795541" cy="42767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377452790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93C200-D641-8E8D-0C8D-E9F397B0A2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300" y="-19987"/>
            <a:ext cx="6347713" cy="889417"/>
          </a:xfrm>
        </p:spPr>
        <p:txBody>
          <a:bodyPr/>
          <a:lstStyle/>
          <a:p>
            <a:r>
              <a:rPr lang="en-US" dirty="0"/>
              <a:t>Category Rating vs Review 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10A8CF9-E721-D10A-0DA6-8D996D5FEA34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150000" y="3672519"/>
            <a:ext cx="6808013" cy="3088576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F75CB65C-E860-6A0D-3BB1-EE8FCFDACBB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000" y="677881"/>
            <a:ext cx="6808013" cy="28597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33011507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Customer Behavior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1526385"/>
            <a:ext cx="6347714" cy="1268409"/>
          </a:xfrm>
        </p:spPr>
        <p:txBody>
          <a:bodyPr>
            <a:normAutofit/>
          </a:bodyPr>
          <a:lstStyle/>
          <a:p>
            <a:r>
              <a:rPr dirty="0"/>
              <a:t>No relationship between price &amp; rating</a:t>
            </a:r>
          </a:p>
          <a:p>
            <a:r>
              <a:rPr dirty="0"/>
              <a:t>5-star products get more reviews</a:t>
            </a:r>
          </a:p>
          <a:p>
            <a:r>
              <a:rPr dirty="0"/>
              <a:t>Customer perception is expectation-based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C68B38E-1B79-AC6F-E956-391BB54B26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4728" y="2847185"/>
            <a:ext cx="6735580" cy="3239583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F38A72-C17B-9302-2D7A-289EFAB4CDB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39515"/>
          </a:xfrm>
        </p:spPr>
        <p:txBody>
          <a:bodyPr/>
          <a:lstStyle/>
          <a:p>
            <a:r>
              <a:rPr lang="en-US" dirty="0"/>
              <a:t>Customer behavior charts</a:t>
            </a: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CF00F062-C722-294D-6CBC-225C38C6D646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899" y="1349114"/>
            <a:ext cx="6655921" cy="407732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269661523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075300-56CF-6AE1-276B-1EFFEE42FF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8899" y="24984"/>
            <a:ext cx="6347713" cy="1189220"/>
          </a:xfrm>
        </p:spPr>
        <p:txBody>
          <a:bodyPr/>
          <a:lstStyle/>
          <a:p>
            <a:r>
              <a:rPr lang="en-US" dirty="0"/>
              <a:t>Customer engagement with products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7E4DE638-A84A-EFCF-1DE1-4FFD9FCA3CC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8899" y="1454046"/>
            <a:ext cx="6348413" cy="3869698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60101264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54404"/>
            <a:ext cx="8229600" cy="1143000"/>
          </a:xfrm>
        </p:spPr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Platform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Amazon highest rating (3.84★)</a:t>
            </a:r>
          </a:p>
          <a:p>
            <a:r>
              <a:t>AliExpress best value</a:t>
            </a:r>
          </a:p>
          <a:p>
            <a:r>
              <a:t>Noon highest availability</a:t>
            </a:r>
          </a:p>
          <a:p>
            <a:r>
              <a:t>Small differences in ratings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C4BCE-6DE5-D8C0-E0CD-852709E05D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0300" y="564629"/>
            <a:ext cx="6347713" cy="1204210"/>
          </a:xfrm>
        </p:spPr>
        <p:txBody>
          <a:bodyPr/>
          <a:lstStyle/>
          <a:p>
            <a:r>
              <a:rPr lang="en-US" dirty="0"/>
              <a:t>Platform Comparison Chart per stock availability</a:t>
            </a:r>
          </a:p>
        </p:txBody>
      </p:sp>
      <p:pic>
        <p:nvPicPr>
          <p:cNvPr id="9" name="Content Placeholder 8">
            <a:extLst>
              <a:ext uri="{FF2B5EF4-FFF2-40B4-BE49-F238E27FC236}">
                <a16:creationId xmlns:a16="http://schemas.microsoft.com/office/drawing/2014/main" id="{261DE37A-877D-2CF3-4245-F5C905FFA3F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252632"/>
            <a:ext cx="6348413" cy="3697349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160728789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895CC1-9548-F3E4-0936-4FC7AB98C0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Platform comparison by rating score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80419DE9-DF52-E4A1-2C5C-EC25B8A131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255590"/>
            <a:ext cx="6348413" cy="3691432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15363903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2EADBF7-A940-C732-18BD-C636230C01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Balance between rate &amp; price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CBE3087-8AC1-F9B9-6854-B51DD97948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600" y="2259133"/>
            <a:ext cx="6348413" cy="3684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59188449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Availability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83.4% products in stock</a:t>
            </a:r>
            <a:endParaRPr lang="en-US" dirty="0"/>
          </a:p>
          <a:p>
            <a:r>
              <a:rPr lang="en-US" dirty="0"/>
              <a:t>Noon: 85% | eBay: 81%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8% limited</a:t>
            </a:r>
            <a:endParaRPr lang="en-US" dirty="0"/>
          </a:p>
          <a:p>
            <a:r>
              <a:rPr dirty="0"/>
              <a:t>8.5% out of stock</a:t>
            </a:r>
          </a:p>
          <a:p>
            <a:r>
              <a:rPr dirty="0"/>
              <a:t>eBay lowest availability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A466A-51EB-22E6-842D-EB4212CAE4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chart by stocks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083C65CF-64F3-AB00-61E3-A9DC6AAC2FE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457050"/>
            <a:ext cx="4972744" cy="173585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44505313-FBF3-BDCC-E1E9-BB549C27BB5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3389779"/>
            <a:ext cx="4972744" cy="29003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09834676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31160D0-5CEB-A1A9-21FB-F8554AE638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Availability rate ranking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D2200692-E709-5AFE-405B-56C106B2CF37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9" y="1721128"/>
            <a:ext cx="6347713" cy="3415744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88713693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Market &amp; Currency Insight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USD dominates (60%)</a:t>
            </a:r>
          </a:p>
          <a:p>
            <a:r>
              <a:rPr dirty="0"/>
              <a:t>Each platform uses one currency</a:t>
            </a:r>
          </a:p>
          <a:p>
            <a:r>
              <a:rPr dirty="0"/>
              <a:t>Standardization opportunity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23D099-B1A9-19A3-AFF0-1F75B21BC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769495"/>
          </a:xfrm>
        </p:spPr>
        <p:txBody>
          <a:bodyPr/>
          <a:lstStyle/>
          <a:p>
            <a:r>
              <a:rPr lang="en-US" dirty="0"/>
              <a:t>Currency usage insights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9495C9A9-CCE0-3D78-0F23-C236284660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09598" y="4077325"/>
            <a:ext cx="6347713" cy="2361173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3DEF9046-1A37-5BDE-5E21-1CE92EFCB16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599" y="1379095"/>
            <a:ext cx="6347713" cy="2563047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2711795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Key Business Insights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Pricing strategies differ significantly</a:t>
            </a:r>
          </a:p>
          <a:p>
            <a:r>
              <a:t>Discounting not key driver</a:t>
            </a:r>
          </a:p>
          <a:p>
            <a:r>
              <a:t>AliExpress = value leader</a:t>
            </a:r>
          </a:p>
          <a:p>
            <a:r>
              <a:t>Jumia = premium segment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Improve data quality</a:t>
            </a:r>
          </a:p>
          <a:p>
            <a:r>
              <a:rPr dirty="0"/>
              <a:t>Align pricing strategies</a:t>
            </a:r>
          </a:p>
          <a:p>
            <a:r>
              <a:rPr dirty="0"/>
              <a:t>Focus on product value</a:t>
            </a:r>
          </a:p>
          <a:p>
            <a:r>
              <a:rPr dirty="0"/>
              <a:t>Leverage high-engagement products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highlight>
                  <a:srgbClr val="FFFF00"/>
                </a:highlight>
              </a:rP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Questions &amp; Discussion</a:t>
            </a:r>
            <a:endParaRPr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5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 fmla="#ppt_w*sin(2.5*pi*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2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4210</TotalTime>
  <Words>363</Words>
  <Application>Microsoft Office PowerPoint</Application>
  <PresentationFormat>On-screen Show (4:3)</PresentationFormat>
  <Paragraphs>88</Paragraphs>
  <Slides>30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5" baseType="lpstr">
      <vt:lpstr>Arial</vt:lpstr>
      <vt:lpstr>Calibri</vt:lpstr>
      <vt:lpstr>Trebuchet MS</vt:lpstr>
      <vt:lpstr>Wingdings 3</vt:lpstr>
      <vt:lpstr>Facet</vt:lpstr>
      <vt:lpstr>PRODUCT PULSE ECOMMERCE ANALYTICS INSIGHT</vt:lpstr>
      <vt:lpstr>Executive Summary</vt:lpstr>
      <vt:lpstr>Summary Key visuals</vt:lpstr>
      <vt:lpstr>Summary key visuals cont’d</vt:lpstr>
      <vt:lpstr>Pricing Analysis</vt:lpstr>
      <vt:lpstr>Visuals from Pricing Analysis</vt:lpstr>
      <vt:lpstr>Price Extremes</vt:lpstr>
      <vt:lpstr>Discount Analysis</vt:lpstr>
      <vt:lpstr>Discount charts</vt:lpstr>
      <vt:lpstr>Brand Analysis</vt:lpstr>
      <vt:lpstr>Brand charts</vt:lpstr>
      <vt:lpstr>Brand price list comparison</vt:lpstr>
      <vt:lpstr>Category Analysis</vt:lpstr>
      <vt:lpstr>Category chart</vt:lpstr>
      <vt:lpstr>Category Rating vs Review </vt:lpstr>
      <vt:lpstr>Customer Behavior</vt:lpstr>
      <vt:lpstr>Customer behavior charts</vt:lpstr>
      <vt:lpstr>Customer engagement with products</vt:lpstr>
      <vt:lpstr>Platform Comparison</vt:lpstr>
      <vt:lpstr>Platform Comparison Chart per stock availability</vt:lpstr>
      <vt:lpstr>Platform comparison by rating score</vt:lpstr>
      <vt:lpstr>Balance between rate &amp; price</vt:lpstr>
      <vt:lpstr>Availability Analysis</vt:lpstr>
      <vt:lpstr>Availability chart by stocks</vt:lpstr>
      <vt:lpstr>Availability rate ranking</vt:lpstr>
      <vt:lpstr>Market &amp; Currency Insight</vt:lpstr>
      <vt:lpstr>Currency usage insights</vt:lpstr>
      <vt:lpstr>Key Business Insights</vt:lpstr>
      <vt:lpstr>Recommendations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Prince Owusu Agyare</cp:lastModifiedBy>
  <cp:revision>26</cp:revision>
  <dcterms:created xsi:type="dcterms:W3CDTF">2013-01-27T09:14:16Z</dcterms:created>
  <dcterms:modified xsi:type="dcterms:W3CDTF">2026-07-09T16:44:15Z</dcterms:modified>
  <cp:category/>
</cp:coreProperties>
</file>